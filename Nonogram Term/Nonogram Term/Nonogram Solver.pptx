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2" r:id="rId7"/>
    <p:sldId id="260" r:id="rId8"/>
    <p:sldId id="261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47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243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E2FED94-B38F-4185-9126-EBF445C77D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137FFFD-D55A-4CEC-81B5-054510B620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FBAC6B3-B694-417C-A24B-77C9851F2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2041FF-581B-4730-A90B-BEB5D80A2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B3445C-5489-4C8C-AA28-588E51BA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470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F28E06-F809-4494-A99D-211B51C95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0B22F32-B614-4552-A466-65D89D2118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9C20FA3-65E4-4AD2-A241-862E41632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CADEFE-2807-49F0-91DC-C1AC54523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BACCE64-3FF3-4F24-A220-84C290DE2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523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3425A4-B3E7-412C-A175-68769805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2B76B96-1CFB-46F4-AE65-F85DA067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B4ADA61-9B78-461C-90B7-4F68503C6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DEFAD62-A187-4056-B045-B9746173E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8D9AB1-7767-4433-9A64-DE6877594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535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86521E-5FD2-48AE-8E59-227DCF4D9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C81C53-8CC0-4C54-AD86-B00DE3BD25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2D3D9F9-2C94-47C6-9760-14D01D4B0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3F1312C-A517-48A4-8200-3F2992B29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9F5C1A-806B-4FBA-929D-566BBD9FB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B3A935-1429-4B01-B80B-4E3BEEC6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23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C56C94-8B30-41D6-B5BB-83CB3C51C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0B83C6-01D4-42CE-B9D9-174A53556B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3A4D44-A431-422E-9BE9-630C3BD604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6BE06E0-3E74-4C8F-B46C-A1C44FC3B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00C0563-685F-41D9-8BA0-2E598B098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6822995-DC03-4342-A0E2-B22A70A606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DCA8FC62-50B9-4026-874F-547063C2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4C63B39-E300-4DE4-9653-A55E6BCF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275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5FEDE0E-B414-499E-9971-D63C3C1F7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E4A4FAF-024D-4CFB-8DB8-825C923BC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D05AABF-AAEE-4D97-8E4D-AC1447B7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419C88D-DD43-4839-A004-4E23AD53C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990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D8B30D3-3D46-4154-9077-8A6D68DBC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0855A7B-724D-4381-9408-0ED187D39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DAA8697-5A41-4137-918F-E398C8A83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280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0086BF-5188-49A8-B78E-48F149E33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C8BC75-F14F-494C-9732-48291E819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BD4B860-1808-45D8-A19B-1A6BA7D413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8E7DB1A-DE27-497A-AFB3-2D92740B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83737FF-BA01-4A69-9A3A-E14EF1AE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E3E40F6-0FF0-47C5-8F70-053CCCB58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206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04E410-2461-42A6-93E6-60DB1A8EB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2C771F2-98D9-44A1-8497-03246EAB3D7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0591D86-2A59-4C27-99C5-1B86CAFF2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34FEB3E-C32F-4D41-B997-B124B9CAB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FDD7019-E37F-46BD-B47A-A34028692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D873D6-A591-40B1-82DA-E5E1B74BE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6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3A13AA-0FD2-48A7-91B3-D11631026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8B6630C-57D3-4778-BEBD-7BDB81E33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02AF68-2EB6-4EA4-8898-B2C1ADC20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84F2589-5891-4927-B182-DC0D83A9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80A73C-A4B3-4C5E-B01F-5C85AA4E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00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4B5758E-CDE5-4F5E-81AF-C7D37C7BBA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C512F0D-E1E5-44C3-90EB-913D7D4E5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81D6FD8-BD00-420D-8185-9040BAB1D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3B751B8-1193-4700-85A1-00DB3CD8B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3A7F812-B02E-4F75-8FA5-BEE02D191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98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DA31F02-2C21-486B-AF86-12EB001F2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24B1A4-9E46-4238-A913-31E59FDF9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142E10-CA0E-403C-B459-FDBB5B3FB5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663416-20E0-4516-BDDE-796AE7002BA6}" type="datetimeFigureOut">
              <a:rPr lang="en-US" smtClean="0"/>
              <a:t>12/27/2025</a:t>
            </a:fld>
            <a:endParaRPr 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306DC0-C1B1-44B7-8026-20FFB768F0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36EAA37-D351-4643-9019-5A1E0DDB4D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674CD8-7DB2-4873-8DA4-42A101D533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18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108B9D-AE32-4EBF-9C8E-8769C8BC61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Nonogram</a:t>
            </a:r>
            <a:r>
              <a:rPr lang="en-US" dirty="0"/>
              <a:t> Solver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3E1C8CE-4F5E-4059-87B0-A4F15AC609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670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C3E34E-845C-490C-B5D7-C9210ADA2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1. Dynamic Programming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C76140-550C-40B8-B693-B366CDCD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The big picture is torn down to a simple problem:</a:t>
            </a:r>
          </a:p>
          <a:p>
            <a:pPr marL="457200" lvl="1" indent="0">
              <a:buNone/>
            </a:pPr>
            <a:r>
              <a:rPr lang="en-US" dirty="0"/>
              <a:t>Given a partially painted line (row or column) with some pixels already set to black (1), white (0), or unknown (★), determine which unknown pixels can be definitively painted.</a:t>
            </a:r>
          </a:p>
          <a:p>
            <a:pPr marL="0" indent="0">
              <a:buNone/>
            </a:pPr>
            <a:r>
              <a:rPr lang="en-US" dirty="0"/>
              <a:t>This reveals 2 sub problem:</a:t>
            </a:r>
          </a:p>
          <a:p>
            <a:pPr marL="457200" lvl="1" indent="0">
              <a:buNone/>
            </a:pPr>
            <a:r>
              <a:rPr lang="en-US" dirty="0"/>
              <a:t>Fixability: If the board is still legal.</a:t>
            </a:r>
          </a:p>
          <a:p>
            <a:pPr marL="457200" lvl="1" indent="0">
              <a:buNone/>
            </a:pPr>
            <a:r>
              <a:rPr lang="en-US" dirty="0"/>
              <a:t>Line Solving Problem: If all of the guess indicates the pixel is a color (probably white or black), paint it the color it indicates.</a:t>
            </a:r>
          </a:p>
        </p:txBody>
      </p:sp>
    </p:spTree>
    <p:extLst>
      <p:ext uri="{BB962C8B-B14F-4D97-AF65-F5344CB8AC3E}">
        <p14:creationId xmlns:p14="http://schemas.microsoft.com/office/powerpoint/2010/main" val="26407026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6A0236-1B36-46AB-9229-5B8426922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Step 2. </a:t>
            </a:r>
            <a:r>
              <a:rPr lang="en-US" dirty="0"/>
              <a:t>Propagation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1578AA7-F33B-4423-9393-F69ECBA5C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you paint pixels in one line, it affects perpendicular lines. Take advantage of the process and paint as more pixels as it can.</a:t>
            </a:r>
          </a:p>
        </p:txBody>
      </p:sp>
    </p:spTree>
    <p:extLst>
      <p:ext uri="{BB962C8B-B14F-4D97-AF65-F5344CB8AC3E}">
        <p14:creationId xmlns:p14="http://schemas.microsoft.com/office/powerpoint/2010/main" val="10489774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76AAD3-B0A0-4D29-8A63-C426FA01D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</a:t>
            </a:r>
            <a:r>
              <a:rPr lang="en-US" dirty="0" err="1"/>
              <a:t>Propergation</a:t>
            </a:r>
            <a:endParaRPr 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ED6ED4-97DF-4034-BEE1-08BA7A7CC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PROPAGATE(G):</a:t>
            </a:r>
          </a:p>
          <a:p>
            <a:pPr marL="0" indent="0">
              <a:buNone/>
            </a:pPr>
            <a:r>
              <a:rPr lang="en-US" dirty="0"/>
              <a:t>1. D ← {} (set of newly painted pixels)</a:t>
            </a:r>
          </a:p>
          <a:p>
            <a:pPr marL="0" indent="0">
              <a:buNone/>
            </a:pPr>
            <a:r>
              <a:rPr lang="en-US" dirty="0"/>
              <a:t>2. L ← all rows and columns in G (work queue)</a:t>
            </a:r>
          </a:p>
          <a:p>
            <a:pPr marL="0" indent="0">
              <a:buNone/>
            </a:pPr>
            <a:r>
              <a:rPr lang="en-US" dirty="0"/>
              <a:t>3. while L is not empty:</a:t>
            </a:r>
          </a:p>
          <a:p>
            <a:pPr marL="0" indent="0">
              <a:buNone/>
            </a:pPr>
            <a:r>
              <a:rPr lang="en-US" dirty="0"/>
              <a:t>4.     Remove one line ℓ from L</a:t>
            </a:r>
          </a:p>
          <a:p>
            <a:pPr marL="0" indent="0">
              <a:buNone/>
            </a:pPr>
            <a:r>
              <a:rPr lang="en-US" dirty="0"/>
              <a:t>5.     Let ℓ be row rᵢ with string s and constraint c</a:t>
            </a:r>
          </a:p>
          <a:p>
            <a:pPr marL="0" indent="0">
              <a:buNone/>
            </a:pPr>
            <a:r>
              <a:rPr lang="en-US" dirty="0"/>
              <a:t>6.     if Fix(s, c) is false:</a:t>
            </a:r>
          </a:p>
          <a:p>
            <a:pPr marL="0" indent="0">
              <a:buNone/>
            </a:pPr>
            <a:r>
              <a:rPr lang="en-US" dirty="0"/>
              <a:t>7.         return CONFLICT (puzzle is unsolvable)</a:t>
            </a:r>
          </a:p>
          <a:p>
            <a:pPr marL="0" indent="0">
              <a:buNone/>
            </a:pPr>
            <a:r>
              <a:rPr lang="en-US" dirty="0"/>
              <a:t>8.     s' ← Solve(s, c) (maximal painting)</a:t>
            </a:r>
          </a:p>
          <a:p>
            <a:pPr marL="0" indent="0">
              <a:buNone/>
            </a:pPr>
            <a:r>
              <a:rPr lang="en-US" dirty="0"/>
              <a:t>9.     P ← newly painted pixels (where s had ★ but s' has 0 or 1)</a:t>
            </a:r>
          </a:p>
          <a:p>
            <a:pPr marL="0" indent="0">
              <a:buNone/>
            </a:pPr>
            <a:r>
              <a:rPr lang="en-US" dirty="0"/>
              <a:t>10.    For each pixel p in P:</a:t>
            </a:r>
          </a:p>
          <a:p>
            <a:pPr marL="0" indent="0">
              <a:buNone/>
            </a:pPr>
            <a:r>
              <a:rPr lang="en-US" dirty="0"/>
              <a:t>11.        Add the perpendicular line containing p to L (if not already in L)</a:t>
            </a:r>
          </a:p>
          <a:p>
            <a:pPr marL="0" indent="0">
              <a:buNone/>
            </a:pPr>
            <a:r>
              <a:rPr lang="en-US" dirty="0"/>
              <a:t>12.    D ← D ∪ P (accumulate all painted pixels)</a:t>
            </a:r>
          </a:p>
          <a:p>
            <a:pPr marL="0" indent="0">
              <a:buNone/>
            </a:pPr>
            <a:r>
              <a:rPr lang="en-US" dirty="0"/>
              <a:t>13. if all pixels painted: return SOLVED</a:t>
            </a:r>
          </a:p>
          <a:p>
            <a:pPr marL="0" indent="0">
              <a:buNone/>
            </a:pPr>
            <a:r>
              <a:rPr lang="en-US" dirty="0"/>
              <a:t>14. else: return INCOMPLETE</a:t>
            </a:r>
          </a:p>
        </p:txBody>
      </p:sp>
    </p:spTree>
    <p:extLst>
      <p:ext uri="{BB962C8B-B14F-4D97-AF65-F5344CB8AC3E}">
        <p14:creationId xmlns:p14="http://schemas.microsoft.com/office/powerpoint/2010/main" val="2130945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A33ADC-E599-41E9-B0E0-69DA35B23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3. Fully Probing (FP) Methods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F3CC36-4E59-4405-AF84-F7EC56BED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 propagation can't paint any more pixels, FP methods guess each unknown pixel to gather information before having to backtrack.</a:t>
            </a:r>
          </a:p>
          <a:p>
            <a:pPr marL="0" indent="0">
              <a:buNone/>
            </a:pPr>
            <a:r>
              <a:rPr lang="en-US" dirty="0"/>
              <a:t>Use logical rules (like contrapositive) to test if this spot should be filled with black or white.</a:t>
            </a:r>
          </a:p>
        </p:txBody>
      </p:sp>
    </p:spTree>
    <p:extLst>
      <p:ext uri="{BB962C8B-B14F-4D97-AF65-F5344CB8AC3E}">
        <p14:creationId xmlns:p14="http://schemas.microsoft.com/office/powerpoint/2010/main" val="40245334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D0A4ABC-569A-49D4-9909-0286FC504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Fully Probing Example 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B247CB2-5C77-40D1-BEE2-ECC1430C0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Initial: pixel p is unknown</a:t>
            </a:r>
          </a:p>
          <a:p>
            <a:r>
              <a:rPr lang="en-US" dirty="0"/>
              <a:t>Probe G₀ᵖ (p=0):</a:t>
            </a:r>
          </a:p>
          <a:p>
            <a:r>
              <a:rPr lang="en-US" dirty="0"/>
              <a:t>- Propagation paints q=1</a:t>
            </a:r>
          </a:p>
          <a:p>
            <a:r>
              <a:rPr lang="en-US" dirty="0"/>
              <a:t>- Store contrapositive: (q, 0) in </a:t>
            </a:r>
            <a:r>
              <a:rPr lang="en-US" dirty="0" err="1"/>
              <a:t>pclist</a:t>
            </a:r>
            <a:r>
              <a:rPr lang="en-US" dirty="0"/>
              <a:t> of G₁ᵖ</a:t>
            </a:r>
          </a:p>
          <a:p>
            <a:r>
              <a:rPr lang="en-US" dirty="0"/>
              <a:t>Later, probe G₁ᵖ (p=1):</a:t>
            </a:r>
          </a:p>
          <a:p>
            <a:r>
              <a:rPr lang="en-US" dirty="0"/>
              <a:t>- First, apply </a:t>
            </a:r>
            <a:r>
              <a:rPr lang="en-US" dirty="0" err="1"/>
              <a:t>pclist</a:t>
            </a:r>
            <a:r>
              <a:rPr lang="en-US" dirty="0"/>
              <a:t>: set q=0 in G₁ᵖ</a:t>
            </a:r>
          </a:p>
          <a:p>
            <a:r>
              <a:rPr lang="en-US" dirty="0"/>
              <a:t>- Then propagate- If this causes conflict → p cannot be 1 → paint p=0 in main grid</a:t>
            </a:r>
          </a:p>
        </p:txBody>
      </p:sp>
    </p:spTree>
    <p:extLst>
      <p:ext uri="{BB962C8B-B14F-4D97-AF65-F5344CB8AC3E}">
        <p14:creationId xmlns:p14="http://schemas.microsoft.com/office/powerpoint/2010/main" val="1463267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2EF5227-ACCF-49AB-9812-33F2D0E9A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4. Backtracking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5271AC-2C32-4848-8346-35240EA7A7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previous step, if we guess on a pixel, how much pixel will be determined with logic rules.</a:t>
            </a:r>
          </a:p>
          <a:p>
            <a:pPr marL="0" indent="0">
              <a:buNone/>
            </a:pPr>
            <a:r>
              <a:rPr lang="en-US" dirty="0"/>
              <a:t>This metric is then used to determine which pixel is going to be guessed in backtracking process.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3301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D97B6-967C-41F0-9F93-EB0AA739C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Backtracking Example Algorithm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DE42E55-6ED2-49D9-8742-B039479AA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1955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BACKTRACKING(G):</a:t>
            </a:r>
          </a:p>
          <a:p>
            <a:pPr marL="0" indent="0">
              <a:buNone/>
            </a:pPr>
            <a:r>
              <a:rPr lang="en-US" dirty="0"/>
              <a:t>1. Initialize all G₀ᵖ and G₁ᵖ for all unpainted pixels</a:t>
            </a:r>
          </a:p>
          <a:p>
            <a:pPr marL="0" indent="0">
              <a:buNone/>
            </a:pPr>
            <a:r>
              <a:rPr lang="en-US" dirty="0"/>
              <a:t>2. FP3(G)  // or FP1/FP2</a:t>
            </a:r>
          </a:p>
          <a:p>
            <a:pPr marL="0" indent="0">
              <a:buNone/>
            </a:pPr>
            <a:r>
              <a:rPr lang="en-US" dirty="0"/>
              <a:t>3. if G is CONFLICT: return (dead end)</a:t>
            </a:r>
          </a:p>
          <a:p>
            <a:pPr marL="0" indent="0">
              <a:buNone/>
            </a:pPr>
            <a:r>
              <a:rPr lang="en-US" dirty="0"/>
              <a:t>4. if G is SOLVED: return solution</a:t>
            </a:r>
          </a:p>
          <a:p>
            <a:pPr marL="0" indent="0">
              <a:buNone/>
            </a:pPr>
            <a:r>
              <a:rPr lang="en-US" dirty="0"/>
              <a:t>5. p ← CHOOSE_PIXEL(G)  // critical step!</a:t>
            </a:r>
          </a:p>
          <a:p>
            <a:pPr marL="0" indent="0">
              <a:buNone/>
            </a:pPr>
            <a:r>
              <a:rPr lang="en-US" dirty="0"/>
              <a:t>6. G' ← copy of G with p=0</a:t>
            </a:r>
          </a:p>
          <a:p>
            <a:pPr marL="0" indent="0">
              <a:buNone/>
            </a:pPr>
            <a:r>
              <a:rPr lang="en-US" dirty="0"/>
              <a:t>7. BACKTRACKING(G')  // recursive call</a:t>
            </a:r>
          </a:p>
          <a:p>
            <a:pPr marL="0" indent="0">
              <a:buNone/>
            </a:pPr>
            <a:r>
              <a:rPr lang="en-US" dirty="0"/>
              <a:t>8. G'' ← copy of G with p=1</a:t>
            </a:r>
          </a:p>
          <a:p>
            <a:pPr marL="0" indent="0">
              <a:buNone/>
            </a:pPr>
            <a:r>
              <a:rPr lang="en-US" dirty="0"/>
              <a:t>9. BACKTRACKING(G'')  // recursive call</a:t>
            </a:r>
          </a:p>
        </p:txBody>
      </p:sp>
    </p:spTree>
    <p:extLst>
      <p:ext uri="{BB962C8B-B14F-4D97-AF65-F5344CB8AC3E}">
        <p14:creationId xmlns:p14="http://schemas.microsoft.com/office/powerpoint/2010/main" val="717899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77E31A1-9B6C-4428-9F5E-74C906890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4D72B05-ACB4-48FC-B860-673456CA2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https://scholar.nycu.edu.tw/zh/publications/an-efficient-approach-to-solving-nonograms/</a:t>
            </a:r>
          </a:p>
        </p:txBody>
      </p:sp>
    </p:spTree>
    <p:extLst>
      <p:ext uri="{BB962C8B-B14F-4D97-AF65-F5344CB8AC3E}">
        <p14:creationId xmlns:p14="http://schemas.microsoft.com/office/powerpoint/2010/main" val="28337645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607</Words>
  <Application>Microsoft Office PowerPoint</Application>
  <PresentationFormat>寬螢幕</PresentationFormat>
  <Paragraphs>52</Paragraphs>
  <Slides>9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佈景主題</vt:lpstr>
      <vt:lpstr>Nonogram Solver</vt:lpstr>
      <vt:lpstr>Step 1. Dynamic Programming</vt:lpstr>
      <vt:lpstr>Step 2. Propagation</vt:lpstr>
      <vt:lpstr>Algorithm for Propergation</vt:lpstr>
      <vt:lpstr>Step 3. Fully Probing (FP) Methods</vt:lpstr>
      <vt:lpstr>Fully Probing Example </vt:lpstr>
      <vt:lpstr>Step 4. Backtracking</vt:lpstr>
      <vt:lpstr>Backtracking Example Algorithm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Nonogram Solver</dc:title>
  <dc:creator>Jerry Lan</dc:creator>
  <cp:lastModifiedBy>Jerry Lan</cp:lastModifiedBy>
  <cp:revision>10</cp:revision>
  <dcterms:created xsi:type="dcterms:W3CDTF">2025-12-24T16:00:53Z</dcterms:created>
  <dcterms:modified xsi:type="dcterms:W3CDTF">2025-12-27T03:58:24Z</dcterms:modified>
</cp:coreProperties>
</file>